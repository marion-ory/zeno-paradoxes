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51F2B6-79C9-43EA-8251-0813ED355941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E16A9F-D467-4B53-9EF5-4DAD93F7E22F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88544D-3555-4C27-AD13-393D4FF6C7A1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8337ED-1B82-4F85-8C0F-CBF0915CF870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AE96BC-6DB8-427A-B18E-28C02F0C74F0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4ACC3B-628D-4B4F-B3AE-CDBD5F81FF95}" type="slidenum">
              <a:rPr b="0" lang="fr-F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955280" y="3017520"/>
            <a:ext cx="4754520" cy="4754520"/>
          </a:xfrm>
          <a:prstGeom prst="ellipse">
            <a:avLst/>
          </a:prstGeom>
          <a:noFill/>
          <a:ln w="19050">
            <a:solidFill>
              <a:srgbClr val="d9b26a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503920" y="3566160"/>
            <a:ext cx="3657240" cy="3657240"/>
          </a:xfrm>
          <a:prstGeom prst="ellipse">
            <a:avLst/>
          </a:prstGeom>
          <a:noFill/>
          <a:ln w="19050">
            <a:solidFill>
              <a:srgbClr val="d9b26a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052560" y="4114800"/>
            <a:ext cx="2559960" cy="2559960"/>
          </a:xfrm>
          <a:prstGeom prst="ellipse">
            <a:avLst/>
          </a:prstGeom>
          <a:noFill/>
          <a:ln w="19050">
            <a:solidFill>
              <a:srgbClr val="b8862b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278892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4400" spc="-1" strike="noStrike">
                <a:solidFill>
                  <a:srgbClr val="ffffff"/>
                </a:solidFill>
                <a:latin typeface="Cambria"/>
                <a:ea typeface="Cambria"/>
              </a:rPr>
              <a:t>LES PARADOXES DE ZÉNON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39776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000" spc="-1" strike="noStrike">
                <a:solidFill>
                  <a:srgbClr val="d9b26a"/>
                </a:solidFill>
                <a:latin typeface="Calibri"/>
                <a:ea typeface="Calibri"/>
              </a:rPr>
              <a:t>par Roven, Marion, Michel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0"/>
          <p:cNvSpPr/>
          <p:nvPr/>
        </p:nvSpPr>
        <p:spPr>
          <a:xfrm>
            <a:off x="640080" y="50292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1b2a4a"/>
                </a:solidFill>
                <a:latin typeface="Cambria"/>
                <a:ea typeface="Cambria"/>
              </a:rPr>
              <a:t>L'infini dans les paradoxes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40080" y="1325880"/>
            <a:ext cx="1088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fr-FR" sz="1600" spc="-1" strike="noStrike">
                <a:solidFill>
                  <a:srgbClr val="1b2a4a"/>
                </a:solidFill>
                <a:latin typeface="Calibri"/>
                <a:ea typeface="Calibri"/>
              </a:rPr>
              <a:t>Dans les trois paradoxes, Zénon met en confrontation notre perception de la réalité en intégrant la notion d'infini à différents niveaux, en remettant en question 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731520" y="2629080"/>
            <a:ext cx="1005480" cy="10054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978120" y="3131640"/>
            <a:ext cx="21060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1188720" y="3131640"/>
            <a:ext cx="16452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1353240" y="3131640"/>
            <a:ext cx="11880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1472040" y="3131640"/>
            <a:ext cx="8244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946440" y="3099960"/>
            <a:ext cx="63720" cy="63720"/>
          </a:xfrm>
          <a:prstGeom prst="ellipse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1156680" y="3099960"/>
            <a:ext cx="63720" cy="63720"/>
          </a:xfrm>
          <a:prstGeom prst="ellipse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1321200" y="3099960"/>
            <a:ext cx="63720" cy="63720"/>
          </a:xfrm>
          <a:prstGeom prst="ellipse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1440360" y="3099960"/>
            <a:ext cx="63720" cy="63720"/>
          </a:xfrm>
          <a:prstGeom prst="ellipse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1522440" y="3099960"/>
            <a:ext cx="63720" cy="63720"/>
          </a:xfrm>
          <a:prstGeom prst="ellipse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1965960" y="246888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800" spc="-1" strike="noStrike">
                <a:solidFill>
                  <a:srgbClr val="1b2a4a"/>
                </a:solidFill>
                <a:latin typeface="Cambria"/>
                <a:ea typeface="Cambria"/>
              </a:rPr>
              <a:t>Le parcours d'une distance en temps fini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1965960" y="2853000"/>
            <a:ext cx="8777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  <a:ea typeface="Calibri"/>
              </a:rPr>
              <a:t>Pour les paradoxes de la Tortue et de la Dichotomie : franchir une distance finie suppose de traverser une infinité d'étapes intermédiaires.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731520" y="4229280"/>
            <a:ext cx="1005480" cy="10054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5"/>
          <p:cNvSpPr/>
          <p:nvPr/>
        </p:nvSpPr>
        <p:spPr>
          <a:xfrm>
            <a:off x="941760" y="4731840"/>
            <a:ext cx="457200" cy="360"/>
          </a:xfrm>
          <a:prstGeom prst="line">
            <a:avLst/>
          </a:prstGeom>
          <a:ln w="3810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 rot="5400000">
            <a:off x="1362960" y="4604040"/>
            <a:ext cx="255600" cy="255600"/>
          </a:xfrm>
          <a:prstGeom prst="triangle">
            <a:avLst>
              <a:gd name="adj" fmla="val 50000"/>
            </a:avLst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1965960" y="4069080"/>
            <a:ext cx="877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800" spc="-1" strike="noStrike">
                <a:solidFill>
                  <a:srgbClr val="1b2a4a"/>
                </a:solidFill>
                <a:latin typeface="Cambria"/>
                <a:ea typeface="Cambria"/>
              </a:rPr>
              <a:t>La notion de mouvement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1965960" y="4453200"/>
            <a:ext cx="8777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  <a:ea typeface="Calibri"/>
              </a:rPr>
              <a:t>Pour le paradoxe de la Flèche : comment passer d'un point A à un point B, si à chaque instant l'objet occupe une position fixe ?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12192120" cy="68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0"/>
          <p:cNvSpPr/>
          <p:nvPr/>
        </p:nvSpPr>
        <p:spPr>
          <a:xfrm>
            <a:off x="640080" y="50292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1b2a4a"/>
                </a:solidFill>
                <a:latin typeface="Cambria"/>
                <a:ea typeface="Cambria"/>
              </a:rPr>
              <a:t>Les 3 paradoxes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640080" y="1600200"/>
            <a:ext cx="3428640" cy="420588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6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1806120" y="1920240"/>
            <a:ext cx="1096920" cy="1096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2007000" y="2414160"/>
            <a:ext cx="109440" cy="109440"/>
          </a:xfrm>
          <a:prstGeom prst="ellipse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2372760" y="2414160"/>
            <a:ext cx="109440" cy="109440"/>
          </a:xfrm>
          <a:prstGeom prst="ellipse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2171520" y="2468880"/>
            <a:ext cx="164520" cy="360"/>
          </a:xfrm>
          <a:prstGeom prst="line">
            <a:avLst/>
          </a:prstGeom>
          <a:ln w="25400">
            <a:solidFill>
              <a:srgbClr val="d9b2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2317680" y="2468880"/>
            <a:ext cx="18360" cy="360"/>
          </a:xfrm>
          <a:prstGeom prst="line">
            <a:avLst/>
          </a:prstGeom>
          <a:ln w="25400">
            <a:solidFill>
              <a:srgbClr val="d9b2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914400" y="320040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700" spc="-1" strike="noStrike">
                <a:solidFill>
                  <a:srgbClr val="1b2a4a"/>
                </a:solidFill>
                <a:latin typeface="Cambria"/>
                <a:ea typeface="Cambria"/>
              </a:rPr>
              <a:t>Achille et la Tortue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960120" y="3749040"/>
            <a:ext cx="27885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fr-FR" sz="1250" spc="-1" strike="noStrike">
                <a:solidFill>
                  <a:srgbClr val="5b6b85"/>
                </a:solidFill>
                <a:latin typeface="Calibri"/>
                <a:ea typeface="Calibri"/>
              </a:rPr>
              <a:t>Achille ne peut jamais rattraper la tortue : le temps qu'il atteigne sa position, elle a toujours déjà avancé un peu plus loin.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4389120" y="1600200"/>
            <a:ext cx="3428640" cy="420588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6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5555160" y="1920240"/>
            <a:ext cx="1096920" cy="1096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1"/>
          <p:cNvSpPr/>
          <p:nvPr/>
        </p:nvSpPr>
        <p:spPr>
          <a:xfrm>
            <a:off x="5783400" y="2468880"/>
            <a:ext cx="30168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6085080" y="2468880"/>
            <a:ext cx="16452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6249600" y="2468880"/>
            <a:ext cx="10080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4"/>
          <p:cNvSpPr/>
          <p:nvPr/>
        </p:nvSpPr>
        <p:spPr>
          <a:xfrm>
            <a:off x="6350400" y="2468880"/>
            <a:ext cx="6408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5"/>
          <p:cNvSpPr/>
          <p:nvPr/>
        </p:nvSpPr>
        <p:spPr>
          <a:xfrm>
            <a:off x="5783400" y="2359080"/>
            <a:ext cx="360" cy="219240"/>
          </a:xfrm>
          <a:prstGeom prst="line">
            <a:avLst/>
          </a:prstGeom>
          <a:ln w="2540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6085080" y="2359080"/>
            <a:ext cx="360" cy="219240"/>
          </a:xfrm>
          <a:prstGeom prst="line">
            <a:avLst/>
          </a:prstGeom>
          <a:ln w="2540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7"/>
          <p:cNvSpPr/>
          <p:nvPr/>
        </p:nvSpPr>
        <p:spPr>
          <a:xfrm>
            <a:off x="6249600" y="2359080"/>
            <a:ext cx="360" cy="219240"/>
          </a:xfrm>
          <a:prstGeom prst="line">
            <a:avLst/>
          </a:prstGeom>
          <a:ln w="2540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8"/>
          <p:cNvSpPr/>
          <p:nvPr/>
        </p:nvSpPr>
        <p:spPr>
          <a:xfrm>
            <a:off x="6350400" y="2359080"/>
            <a:ext cx="360" cy="219240"/>
          </a:xfrm>
          <a:prstGeom prst="line">
            <a:avLst/>
          </a:prstGeom>
          <a:ln w="2540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9"/>
          <p:cNvSpPr/>
          <p:nvPr/>
        </p:nvSpPr>
        <p:spPr>
          <a:xfrm>
            <a:off x="6414480" y="2359080"/>
            <a:ext cx="360" cy="219240"/>
          </a:xfrm>
          <a:prstGeom prst="line">
            <a:avLst/>
          </a:prstGeom>
          <a:ln w="2540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4663440" y="320040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700" spc="-1" strike="noStrike">
                <a:solidFill>
                  <a:srgbClr val="1b2a4a"/>
                </a:solidFill>
                <a:latin typeface="Cambria"/>
                <a:ea typeface="Cambria"/>
              </a:rPr>
              <a:t>La Dichotomie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4709160" y="3749040"/>
            <a:ext cx="27885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fr-FR" sz="1250" spc="-1" strike="noStrike">
                <a:solidFill>
                  <a:srgbClr val="5b6b85"/>
                </a:solidFill>
                <a:latin typeface="Calibri"/>
                <a:ea typeface="Calibri"/>
              </a:rPr>
              <a:t>Pour parcourir une distance, il faut d'abord en parcourir la moitié, puis la moitié du reste jusqu’à à l'infini.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8138160" y="1600200"/>
            <a:ext cx="3428640" cy="4205880"/>
          </a:xfrm>
          <a:prstGeom prst="roundRect">
            <a:avLst>
              <a:gd name="adj" fmla="val 2667"/>
            </a:avLst>
          </a:prstGeom>
          <a:solidFill>
            <a:srgbClr val="f2f4f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aa6bd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3"/>
          <p:cNvSpPr/>
          <p:nvPr/>
        </p:nvSpPr>
        <p:spPr>
          <a:xfrm>
            <a:off x="9304200" y="1920240"/>
            <a:ext cx="1096920" cy="109692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4"/>
          <p:cNvSpPr/>
          <p:nvPr/>
        </p:nvSpPr>
        <p:spPr>
          <a:xfrm>
            <a:off x="9523440" y="2468880"/>
            <a:ext cx="658080" cy="360"/>
          </a:xfrm>
          <a:prstGeom prst="line">
            <a:avLst/>
          </a:prstGeom>
          <a:ln w="2540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5"/>
          <p:cNvSpPr/>
          <p:nvPr/>
        </p:nvSpPr>
        <p:spPr>
          <a:xfrm>
            <a:off x="9907560" y="2386440"/>
            <a:ext cx="164160" cy="164160"/>
          </a:xfrm>
          <a:prstGeom prst="ellipse">
            <a:avLst/>
          </a:prstGeom>
          <a:noFill/>
          <a:ln w="2540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26"/>
          <p:cNvSpPr/>
          <p:nvPr/>
        </p:nvSpPr>
        <p:spPr>
          <a:xfrm>
            <a:off x="9944280" y="2423160"/>
            <a:ext cx="91080" cy="91080"/>
          </a:xfrm>
          <a:prstGeom prst="ellipse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8412480" y="320040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700" spc="-1" strike="noStrike">
                <a:solidFill>
                  <a:srgbClr val="1b2a4a"/>
                </a:solidFill>
                <a:latin typeface="Cambria"/>
                <a:ea typeface="Cambria"/>
              </a:rPr>
              <a:t>La Flèche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8458200" y="3749040"/>
            <a:ext cx="27885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algn="l" pos="0"/>
              </a:tabLst>
            </a:pPr>
            <a:r>
              <a:rPr b="0" lang="fr-FR" sz="1250" spc="-1" strike="noStrike">
                <a:solidFill>
                  <a:srgbClr val="5b6b85"/>
                </a:solidFill>
                <a:latin typeface="Calibri"/>
                <a:ea typeface="Calibri"/>
              </a:rPr>
              <a:t>À chaque instant, la flèche occupe une position fixe et immobile : le mouvement lui-même n'existerait donc pas en étant défini comme une succession d’instant figés.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2192120" cy="68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0"/>
          <p:cNvSpPr/>
          <p:nvPr/>
        </p:nvSpPr>
        <p:spPr>
          <a:xfrm>
            <a:off x="640080" y="502920"/>
            <a:ext cx="10881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1b2a4a"/>
                </a:solidFill>
                <a:latin typeface="Cambria"/>
                <a:ea typeface="Cambria"/>
              </a:rPr>
              <a:t>Les paradoxes en Python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640080" y="132588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fr-FR" sz="1600" spc="-1" strike="noStrike">
                <a:solidFill>
                  <a:srgbClr val="1b2a4a"/>
                </a:solidFill>
                <a:latin typeface="Calibri"/>
                <a:ea typeface="Calibri"/>
              </a:rPr>
              <a:t>Afin de ne pas surcharger les capacités techniques de l'ordinateur, nous avons défini pour chaque paradoxe une limite d'exécution du programme 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822960" y="2468880"/>
            <a:ext cx="5120280" cy="329148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1234440" y="2880360"/>
            <a:ext cx="914040" cy="9140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1398960" y="3337560"/>
            <a:ext cx="402120" cy="3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1819440" y="3154680"/>
            <a:ext cx="360" cy="365760"/>
          </a:xfrm>
          <a:prstGeom prst="line">
            <a:avLst/>
          </a:prstGeom>
          <a:ln w="31750">
            <a:solidFill>
              <a:srgbClr val="d9b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1143000" y="39776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700" spc="-1" strike="noStrike">
                <a:solidFill>
                  <a:srgbClr val="1b2a4a"/>
                </a:solidFill>
                <a:latin typeface="Cambria"/>
                <a:ea typeface="Cambria"/>
              </a:rPr>
              <a:t>Tortue et Dichotomie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1143000" y="4389120"/>
            <a:ext cx="44802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5b6b85"/>
                </a:solidFill>
                <a:latin typeface="Calibri"/>
                <a:ea typeface="Calibri"/>
              </a:rPr>
              <a:t>Une distance minimum de 0,001 mètre constitue le seuil d'arrêt : le programme s'arrête dès que l'écart restant passe sous cette limite.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6400800" y="2468880"/>
            <a:ext cx="5120280" cy="3291480"/>
          </a:xfrm>
          <a:prstGeom prst="roundRect">
            <a:avLst>
              <a:gd name="adj" fmla="val 2778"/>
            </a:avLst>
          </a:prstGeom>
          <a:solidFill>
            <a:srgbClr val="f2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6812280" y="2880360"/>
            <a:ext cx="914040" cy="91404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6976800" y="3447360"/>
            <a:ext cx="145800" cy="145800"/>
          </a:xfrm>
          <a:prstGeom prst="rect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1"/>
          <p:cNvSpPr/>
          <p:nvPr/>
        </p:nvSpPr>
        <p:spPr>
          <a:xfrm>
            <a:off x="7123320" y="3355920"/>
            <a:ext cx="145800" cy="145800"/>
          </a:xfrm>
          <a:prstGeom prst="rect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7269480" y="3264480"/>
            <a:ext cx="145800" cy="145800"/>
          </a:xfrm>
          <a:prstGeom prst="rect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7415640" y="3173040"/>
            <a:ext cx="145800" cy="145800"/>
          </a:xfrm>
          <a:prstGeom prst="rect">
            <a:avLst/>
          </a:prstGeom>
          <a:solidFill>
            <a:srgbClr val="d9b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6720840" y="39776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700" spc="-1" strike="noStrike">
                <a:solidFill>
                  <a:srgbClr val="1b2a4a"/>
                </a:solidFill>
                <a:latin typeface="Cambria"/>
                <a:ea typeface="Cambria"/>
              </a:rPr>
              <a:t>La Flèche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6720840" y="4389120"/>
            <a:ext cx="44802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fr-FR" sz="1350" spc="-1" strike="noStrike">
                <a:solidFill>
                  <a:srgbClr val="5b6b85"/>
                </a:solidFill>
                <a:latin typeface="Calibri"/>
                <a:ea typeface="Calibri"/>
              </a:rPr>
              <a:t>Le nombre d'instants affichés est défini par le programme via un nombre de pas.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20"/>
          <p:cNvSpPr/>
          <p:nvPr/>
        </p:nvSpPr>
        <p:spPr>
          <a:xfrm>
            <a:off x="7955280" y="3017520"/>
            <a:ext cx="4754520" cy="4754520"/>
          </a:xfrm>
          <a:prstGeom prst="ellipse">
            <a:avLst/>
          </a:prstGeom>
          <a:noFill/>
          <a:ln w="19050">
            <a:solidFill>
              <a:srgbClr val="d9b26a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21"/>
          <p:cNvSpPr/>
          <p:nvPr/>
        </p:nvSpPr>
        <p:spPr>
          <a:xfrm>
            <a:off x="8503920" y="3566160"/>
            <a:ext cx="3657240" cy="3657240"/>
          </a:xfrm>
          <a:prstGeom prst="ellipse">
            <a:avLst/>
          </a:prstGeom>
          <a:noFill/>
          <a:ln w="19050">
            <a:solidFill>
              <a:srgbClr val="d9b26a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7"/>
          <p:cNvSpPr/>
          <p:nvPr/>
        </p:nvSpPr>
        <p:spPr>
          <a:xfrm>
            <a:off x="9052560" y="4114800"/>
            <a:ext cx="2559960" cy="2559960"/>
          </a:xfrm>
          <a:prstGeom prst="ellipse">
            <a:avLst/>
          </a:prstGeom>
          <a:noFill/>
          <a:ln w="19050">
            <a:solidFill>
              <a:srgbClr val="b8862b">
                <a:alpha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822960" y="278892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4400" spc="-1" strike="noStrike">
                <a:solidFill>
                  <a:srgbClr val="ffffff"/>
                </a:solidFill>
                <a:latin typeface="Cambria"/>
                <a:ea typeface="Cambria"/>
              </a:rPr>
              <a:t>DEMONSTRATION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822960" y="397764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000" spc="-1" strike="noStrike">
                <a:solidFill>
                  <a:srgbClr val="d9b26a"/>
                </a:solidFill>
                <a:latin typeface="Calibri"/>
                <a:ea typeface="Calibri"/>
              </a:rPr>
              <a:t>Via Pygame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2026-09-02T10:15:58Z</dcterms:created>
  <dc:creator>PptxGenJS</dc:creator>
  <dc:description/>
  <dc:language>fr-FR</dc:language>
  <cp:lastModifiedBy/>
  <dcterms:modified xsi:type="dcterms:W3CDTF">2026-09-02T12:34:38Z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